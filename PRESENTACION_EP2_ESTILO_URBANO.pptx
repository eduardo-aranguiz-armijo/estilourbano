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2560320" cy="329184"/>
          </a:xfrm>
          <a:prstGeom prst="roundRect">
            <a:avLst/>
          </a:prstGeom>
          <a:solidFill>
            <a:srgbClr val="1A23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8580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PARCIAL N°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14400" y="1188720"/>
            <a:ext cx="103628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Gobernanza Transaccional y Automatización en PL/SQL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Análisis Semestral: "Estilo Urbano" (E-Commerce &amp; Digital Fulfillment)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de Procedimientos, Funciones, Packages con constructores públicos/privados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Triggers a nivel de fila y sentencia en Oracle Cloud Autonomous Database 19c/21c.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697480"/>
            <a:ext cx="10362895" cy="0"/>
          </a:xfrm>
          <a:prstGeom prst="line">
            <a:avLst/>
          </a:prstGeom>
          <a:noFill/>
          <a:ln w="12700">
            <a:solidFill>
              <a:srgbClr val="232E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971800"/>
            <a:ext cx="4983480" cy="2971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E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1546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ACADÉMICA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3520440"/>
            <a:ext cx="44348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Institución: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Duoc UC - Escuela de Informática y Telecomunicaciones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Asignatura: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Base de Datos (BDY1103)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Cristian Medina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Ponderación: </a:t>
            </a:r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Asignatura (Encargo: 40% | Presentación: 60%)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91072" y="2971800"/>
            <a:ext cx="4983480" cy="2971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E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31546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 DESARROLLO Y MOTOR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65392" y="3520440"/>
            <a:ext cx="44348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Expositor: </a:t>
            </a:r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 Aránguiz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Luciano Zaninovic, Kevin Urbina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Autonomous Database Cloud (19c/21c)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Región &amp; Esquema: </a:t>
            </a:r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sa-santiago-1 / ESTILOURBANO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62636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Base de Datos (BDY1103) • Duoc UC • Sede Melipilla / Santiago •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11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CONTEXTO EMPRESARIAL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685800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Operacional vs. Solución de Gobernanza en PL/SQL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1188720"/>
            <a:ext cx="10362895" cy="0"/>
          </a:xfrm>
          <a:prstGeom prst="line">
            <a:avLst/>
          </a:prstGeom>
          <a:noFill/>
          <a:ln w="12700">
            <a:solidFill>
              <a:srgbClr val="232E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62636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Base de Datos (BDY1103) • Caso: Estilo Urbano • Duoc UC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6263640"/>
            <a:ext cx="3230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Parcial N° 2 (60%)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4983480" cy="452628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4B1D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6459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VULNERABILIDADES DEL MODELO PREVIO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965960"/>
            <a:ext cx="443484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Operación Manual sin Control Transaccional: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Ventas gestionadas por chat o planillas sin atomicidad, exponiendo la tienda a sobreventa y descuadre de inventario.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Falta Crítica de Auditoría Salarial: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Modificaciones de sueldos sin registro histórico de valores previos (:OLD), impidiendo rastrear aumentos no autorizados.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Riesgo de Insolvencia Financiera: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Incapacidad de validar si la nómina salarial total supera las ventas y liquidez real de la empresa.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Pérdida de Trazabilidad en Fulfillment: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Clientes y operadores sin visibilidad del estado real de empaque y despacho de pedidos.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91072" y="1417320"/>
            <a:ext cx="4983480" cy="452628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0E44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16459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ARQUITECTURAL EN ORACLE DATABASE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65392" y="1965960"/>
            <a:ext cx="443484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Lógica Centralizada en el Motor de Datos: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Las validaciones y cálculos operan directamente en Oracle Cloud, reduciendo tráfico de red y eliminando riesgos en el cliente.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Disparadores de Auditoría Irreversibles: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Triggers a nivel de fila capturan :OLD y :NEW en AUDITORIA_SUELDO_EMPLEADO con marca de tiempo, usuario y delta.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Blindaje Financiero a Nivel de Sentencia: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Trigger global que compara SUM(sueldos) vs SUM(ventas). Si nómina &gt; ventas, cancela la transacción con ORA-20003.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Encapsulamiento con Packages Modulares: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Estructura de SPEC y BODY con constructores privados que impiden operaciones a usuarios no autorizados.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11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SUBPROGRAMAS ALMACENADOS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685800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Procedimientos y Funciones: Procesamiento Masivo y Modularidad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1188720"/>
            <a:ext cx="10362895" cy="0"/>
          </a:xfrm>
          <a:prstGeom prst="line">
            <a:avLst/>
          </a:prstGeom>
          <a:noFill/>
          <a:ln w="12700">
            <a:solidFill>
              <a:srgbClr val="232E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62636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Base de Datos (BDY1103) • Caso: Estilo Urbano • Duoc UC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6263640"/>
            <a:ext cx="3230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Parcial N° 2 (60%)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4983480" cy="214884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E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554480"/>
            <a:ext cx="4526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PROCEDIMIENTO SIN PARÁMETROS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43000" y="178308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sp_reajuste_masivo_sueldos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43000" y="210312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un reajuste inflacionario del 4.5% a todos los operadores activos de bodega y ventas en una sola transacción atómica.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143000" y="2898648"/>
            <a:ext cx="4526280" cy="438912"/>
          </a:xfrm>
          <a:prstGeom prst="roundRect">
            <a:avLst/>
          </a:prstGeom>
          <a:solidFill>
            <a:srgbClr val="080B12"/>
          </a:solidFill>
          <a:ln w="6350">
            <a:solidFill>
              <a:srgbClr val="232E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2926080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 PKG_ESTILO_URBANO.sp_reajuste_masivo_sueldos;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91072" y="1417320"/>
            <a:ext cx="4983480" cy="214884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E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1554480"/>
            <a:ext cx="4526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PROCEDIMIENTO CON PARÁMETROS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19672" y="178308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sp_actualizar_sueldo_empleado(p_id_trabajador, p_sueldo)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19672" y="210312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 el sueldo individual del trabajador garantizando previamente que sea un operador activo mediante validación interna.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19672" y="2898648"/>
            <a:ext cx="4526280" cy="438912"/>
          </a:xfrm>
          <a:prstGeom prst="roundRect">
            <a:avLst/>
          </a:prstGeom>
          <a:solidFill>
            <a:srgbClr val="080B12"/>
          </a:solidFill>
          <a:ln w="6350">
            <a:solidFill>
              <a:srgbClr val="232E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2926080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 PKG_ESTILO_URBANO.sp_actualizar_sueldo_empleado(2, 750000);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14400" y="3749040"/>
            <a:ext cx="4983480" cy="214884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E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3886200"/>
            <a:ext cx="4526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CON PARÁMETROS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43000" y="411480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fn_calcular_bono(p_id, p_pct_meta)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43000" y="443484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 y retorna determinísticamente el bono según cumplimiento comercial: 12% (&gt;=120%), 7% (&gt;=100%), 3% (&gt;=80%) o $0.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143000" y="5230368"/>
            <a:ext cx="4526280" cy="438912"/>
          </a:xfrm>
          <a:prstGeom prst="roundRect">
            <a:avLst/>
          </a:prstGeom>
          <a:solidFill>
            <a:srgbClr val="080B12"/>
          </a:solidFill>
          <a:ln w="6350">
            <a:solidFill>
              <a:srgbClr val="232E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5257800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PKG_ESTILO_URBANO.fn_calcular_bono(2, 115) FROM DUAL;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91072" y="3749040"/>
            <a:ext cx="4983480" cy="214884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E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9672" y="3886200"/>
            <a:ext cx="4526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SIN PARÁMETROS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519672" y="411480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fn_promedio_sueldo_trabajadores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19672" y="443484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 el sueldo promedio de la dotación operativa activa. Puede ser invocada directamente en sentencias SQL o reportes.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519672" y="5230368"/>
            <a:ext cx="4526280" cy="438912"/>
          </a:xfrm>
          <a:prstGeom prst="roundRect">
            <a:avLst/>
          </a:prstGeom>
          <a:solidFill>
            <a:srgbClr val="080B12"/>
          </a:solidFill>
          <a:ln w="6350">
            <a:solidFill>
              <a:srgbClr val="232E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1112" y="5257800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PKG_ESTILO_URBANO.fn_promedio_sueldo_trabajadores FROM DUAL;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11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MODULARIDAD Y ENCAPSULAMIENTO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685800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PKG_ESTILO_URBANO: Constructores Públicos y Privados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1188720"/>
            <a:ext cx="10362895" cy="0"/>
          </a:xfrm>
          <a:prstGeom prst="line">
            <a:avLst/>
          </a:prstGeom>
          <a:noFill/>
          <a:ln w="12700">
            <a:solidFill>
              <a:srgbClr val="232E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62636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Base de Datos (BDY1103) • Caso: Estilo Urbano • Duoc UC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6263640"/>
            <a:ext cx="3230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Parcial N° 2 (60%)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4983480" cy="452628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60020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ESPECIFICACIÓN PÚBLICA (SPEC)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8745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accesible por aplicaciones externas y endpoints ORDS: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88720" y="2148840"/>
            <a:ext cx="4434840" cy="3566160"/>
          </a:xfrm>
          <a:prstGeom prst="roundRect">
            <a:avLst/>
          </a:prstGeom>
          <a:solidFill>
            <a:srgbClr val="080B12"/>
          </a:solidFill>
          <a:ln w="6350">
            <a:solidFill>
              <a:srgbClr val="232E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2240280"/>
            <a:ext cx="4160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PACKAGE PKG_ESTILO_URBANO IS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c_version CONSTANT VARCHAR2(10) := '2.0-EP2';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Subprogramas Públicos:
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fn_calcular_bono(
    p_id_trabajador NUMBER,
    p_pct_meta NUMBER
  ) RETURN NUMBER;
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fn_promedio_sueldo_trabajadores
    RETURN NUMBER;
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PROCEDURE sp_actualizar_sueldo_empleado(
    p_id_trabajador NUMBER,
    p_nuevo_sueldo  NUMBER
  );
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PROCEDURE sp_reajuste_masivo_sueldos;
</a:t>
            </a:r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PKG_ESTILO_URBANO;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91072" y="1417320"/>
            <a:ext cx="4983480" cy="452628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160020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CUERPO PRIVADO (BODY)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65392" y="18745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Constructores privados encapsulados (ocultos al exterior):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65392" y="2148840"/>
            <a:ext cx="4434840" cy="3566160"/>
          </a:xfrm>
          <a:prstGeom prst="roundRect">
            <a:avLst/>
          </a:prstGeom>
          <a:solidFill>
            <a:srgbClr val="080B12"/>
          </a:solidFill>
          <a:ln w="6350">
            <a:solidFill>
              <a:srgbClr val="232E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02552" y="2240280"/>
            <a:ext cx="4160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PACKAGE BODY ... IS
</a:t>
            </a:r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CONSTRUCTOR PRIVADO (Oculto al exterior)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fn_es_trabajador_valido(
    p_id_trabajador NUMBER
  ) RETURN BOOLEAN IS
    v_count NUMBER;
  BEGIN
    SELECT COUNT(*) INTO v_count
    FROM USUARIO WHERE id_usuario = p_id_trabajador
      AND id_rol = 2 AND estado = 'A';
    RETURN (v_count &gt; 0);
  END fn_es_trabajador_valido;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Los métodos públicos usan fn_es_trabajador_valido
  -- para blindar cualquier modificación.
</a:t>
            </a:r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PKG_ESTILO_URBANO;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11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DISPARADORES DE BASE DE DATOS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685800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a Nivel de Fila y Sentencia: Integridad, Auditoría y Solvencia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1188720"/>
            <a:ext cx="10362895" cy="0"/>
          </a:xfrm>
          <a:prstGeom prst="line">
            <a:avLst/>
          </a:prstGeom>
          <a:noFill/>
          <a:ln w="12700">
            <a:solidFill>
              <a:srgbClr val="232E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62636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Base de Datos (BDY1103) • Caso: Estilo Urbano • Duoc UC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6263640"/>
            <a:ext cx="3230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Parcial N° 2 (60%)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3337560" cy="45262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E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55448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FILA: BEFORE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97280" y="17830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trg_valida_sueldo_empleado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97280" y="214884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Momento: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INSERT OR UPDATE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Afectada: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(sueldo_base)
</a:t>
            </a:r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Regla: 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Sueldo Mínimo Legal ($500.000)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preventivamente que ningún operador gane menos del sueldo mínimo legal. Cancela con ORA-20001.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097280" y="4114800"/>
            <a:ext cx="2971800" cy="1600200"/>
          </a:xfrm>
          <a:prstGeom prst="roundRect">
            <a:avLst/>
          </a:prstGeom>
          <a:solidFill>
            <a:srgbClr val="080B12"/>
          </a:solidFill>
          <a:ln w="6350">
            <a:solidFill>
              <a:srgbClr val="232E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206240"/>
            <a:ext cx="2788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:NEW.sueldo_base &lt; 500000 THEN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RAISE_APPLICATION_ERROR(-20001,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'Sueldo bajo el mínimo legal');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IF;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25696" y="1417320"/>
            <a:ext cx="3337560" cy="45262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E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08576" y="155448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FILA: AFTER (:OLD / :NEW)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608576" y="17830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trg_audit_sueldo_cambios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08576" y="214884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Momento: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UPDATE OF sueldo_base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Afectada: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
</a:t>
            </a:r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Regla: 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Transaccional Estricta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el sueldo previo (:OLD) y nuevo (:NEW). Registra delta, usuario responsable y fecha exacta en auditoría.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08576" y="4114800"/>
            <a:ext cx="2971800" cy="1600200"/>
          </a:xfrm>
          <a:prstGeom prst="roundRect">
            <a:avLst/>
          </a:prstGeom>
          <a:solidFill>
            <a:srgbClr val="080B12"/>
          </a:solidFill>
          <a:ln w="6350">
            <a:solidFill>
              <a:srgbClr val="232E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4206240"/>
            <a:ext cx="2788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AUDITORIA_SUELDO_EMPLEADO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(id_usuario, sueldo_antiguo, sueldo_nuevo,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usuario_db, fecha)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(:NEW.id_usuario, :OLD.sueldo_base,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:NEW.sueldo_base, USER, SYSDATE);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936992" y="1417320"/>
            <a:ext cx="3337560" cy="45262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32E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9872" y="155448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SENTENCIA: AFTER (GLOBAL)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119872" y="17830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trg_valida_solvencia_sueldos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119872" y="214884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Momento: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UPDATE (Sin FOR EACH ROW)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Afectada: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
</a:t>
            </a:r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Regla: 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Solvencia Financiera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 SUM(sueldos) vs SUM(ventas). Si nómina &gt; ventas, aborta con ORA-20003. Evita tabla mutante (ORA-04091).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119872" y="4114800"/>
            <a:ext cx="2971800" cy="1600200"/>
          </a:xfrm>
          <a:prstGeom prst="roundRect">
            <a:avLst/>
          </a:prstGeom>
          <a:solidFill>
            <a:srgbClr val="080B12"/>
          </a:solidFill>
          <a:ln w="6350">
            <a:solidFill>
              <a:srgbClr val="232E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1312" y="4206240"/>
            <a:ext cx="2788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SUM(sueldo_base) INTO v_nomina...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SUM(total_pedido) INTO v_ventas...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v_nomina &gt; v_ventas THEN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RAISE_APPLICATION_ERROR(-20003, ...);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IF;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11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VERIFICACIÓN Y RESULTADOS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685800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Prueba en Oracle SQL Developer y Conclusión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1188720"/>
            <a:ext cx="10362895" cy="0"/>
          </a:xfrm>
          <a:prstGeom prst="line">
            <a:avLst/>
          </a:prstGeom>
          <a:noFill/>
          <a:ln w="12700">
            <a:solidFill>
              <a:srgbClr val="232E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62636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Base de Datos (BDY1103) • Caso: Estilo Urbano • Duoc UC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6263640"/>
            <a:ext cx="3230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Parcial N° 2 (60%)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362895" cy="2423160"/>
        </p:xfrm>
        <a:graphic>
          <a:graphicData uri="http://schemas.openxmlformats.org/drawingml/2006/table">
            <a:tbl>
              <a:tblPr/>
              <a:tblGrid>
                <a:gridCol w="1920240"/>
                <a:gridCol w="3931920"/>
                <a:gridCol w="3200400"/>
                <a:gridCol w="1310335"/>
              </a:tblGrid>
              <a:tr h="403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Caso de Negocio Evaluado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Sentencia SQL Probada en Oracle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Mecanismo PL/SQL Activado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 Obtenido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B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Auditoría Salarial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 USUARIO SET sueldo_base = 750000 WHERE id_usuario = 2;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Trigger AFTER registra :OLD=$650k, :NEW=$750k en auditoría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OK: Auditado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Sueldo Mínimo Legal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 USUARIO SET sueldo_base = 350000 WHERE id_usuario = 2;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Trigger BEFORE intercepta y bloquea sueldo &lt; $500.000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ORA-20001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Solvencia Financiera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 USUARIO SET sueldo_base = 15000000 WHERE id_usuario = 2;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Trigger Sentencia frena transacción (Nómina &gt; Ventas)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ORA-20003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Trazabilidad de Envíos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 PEDIDO SET id_estado = 4 WHERE id_pedido = 1;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Trigger AFTER puebla HISTORIAL_TRACKING_PEDIDO en tiempo real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OK: Tracking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Reajuste Inflacionario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EXEC PKG_ESTILO_URBANO.sp_reajuste_masivo_sueldos;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 aplica reajuste del 4.5% a dotación activa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OK: Nómina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E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C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914400" y="4069080"/>
            <a:ext cx="10362895" cy="1874520"/>
          </a:xfrm>
          <a:prstGeom prst="roundRect">
            <a:avLst/>
          </a:prstGeom>
          <a:solidFill>
            <a:srgbClr val="151C2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88720" y="4251960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 Y LOGROS DEL PROYECTO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88720" y="452628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Gobernanza Centralizada: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100% en Oracle Cloud ADB, blindando el sistema contra modificaciones externas no autorizadas.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Trazabilidad y Transparencia: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con :OLD y :NEW registran cada alteración salarial y cambio de tracking en courier.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Solvencia Financiera Blindada: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de sentencia previenen quiebras bloqueando nóminas que superen las ventas del negocio.
</a:t>
            </a:r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Vistas Semánticas (id_trabajador / id_cliente):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V_TRABAJADORES y V_CLIENTES humanizan el modelo, eliminando identificadores robóticos.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2026-10-22T23:07:57Z</dcterms:created>
  <dcterms:modified xsi:type="dcterms:W3CDTF">2026-10-22T23:07:58Z</dcterms:modified>
</cp:coreProperties>
</file>