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B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Shape 1"/>
          <p:cNvSpPr/>
          <p:nvPr/>
        </p:nvSpPr>
        <p:spPr>
          <a:xfrm>
            <a:off x="914400" y="1097280"/>
            <a:ext cx="2560320" cy="365760"/>
          </a:xfrm>
          <a:prstGeom prst="roundRect">
            <a:avLst/>
          </a:prstGeom>
          <a:solidFill>
            <a:srgbClr val="1A1608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0972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EVALUACIÓN PARCIAL N°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914400" y="1645920"/>
            <a:ext cx="10058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Gobernanza Transaccional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Automatización PL/SQL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914400" y="32918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 Semestral: "Estilo Urbano" | E-Commerce &amp; Fulfillment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4023360"/>
            <a:ext cx="10332720" cy="1920240"/>
          </a:xfrm>
          <a:prstGeom prst="roundRect">
            <a:avLst/>
          </a:prstGeom>
          <a:solidFill>
            <a:srgbClr val="141418"/>
          </a:solidFill>
          <a:ln w="12700">
            <a:solidFill>
              <a:srgbClr val="272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4206240"/>
            <a:ext cx="97840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Institución: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Duoc UC - Escuela de Informática y Telecomunicaciones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Asignatura: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Base de Datos (BDY1103)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Docente: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Cristian Medina
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Expositor / Integrantes: 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Eduardo Aránguiz, Luciano Zaninovic, Kevin Urbina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B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CONTEXTO DE NEGOCIO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 Operacional y Justificación de la Solución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Base de Datos (BDY1103) | Caso Estilo Urbano | Duoc UC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144000" y="64008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EP2 - 60% Ponderación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141418"/>
          </a:solidFill>
          <a:ln w="19050">
            <a:solidFill>
              <a:srgbClr val="7F1D1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737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 EN "ESTILO URBANO"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219456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Operación Histórica Descentralizada:
</a:t>
            </a:r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Ventas por Instagram y WhatsApp sin validaciones atómicas.
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Riesgo Crítico en Remuneraciones:
</a:t>
            </a:r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Modificaciones manuales de sueldos sin auditoría de quién, cuándo o cuánto se alteró.
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Riesgo de Insolvencia Financiera:
</a:t>
            </a:r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Incapacidad de validar si la nómina de salarios excede los ingresos de la tienda.
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Quiebres en Trazabilidad de Pedidos:
</a:t>
            </a:r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Pérdida de visibilidad del estado de preparación en bodega.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463040"/>
            <a:ext cx="5120640" cy="4572000"/>
          </a:xfrm>
          <a:prstGeom prst="roundRect">
            <a:avLst/>
          </a:prstGeom>
          <a:solidFill>
            <a:srgbClr val="141418"/>
          </a:solidFill>
          <a:ln w="19050">
            <a:solidFill>
              <a:srgbClr val="065F4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1737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SOLUCIÓN EN ORACLE DATABASE (EP2)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92240" y="219456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Inteligencia en el Motor de Base de Datos:
</a:t>
            </a:r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La lógica de negocio no reside en el cliente; Oracle ejecuta y gobierna las reglas.
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Triggers de Auditoría Irreversibles:
</a:t>
            </a:r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Captura automática con :OLD y :NEW de cada peso modificado en la nómina.
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Regla de Solvencia a Nivel de Sentencia:
</a:t>
            </a:r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Bloqueo automático (ORA-20003) si la nómina supera las ventas consolidadas.
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Modularidad mediante Packages PL/SQL:
</a:t>
            </a:r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Encapsulamiento estricto con constructores públicos y privados.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B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SUBPROGRAMAS ALMACENADOS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Procedimientos y Funciones: Procesamiento Masivo y Reutilización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Base de Datos (BDY1103) | Caso Estilo Urbano | Duoc UC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144000" y="64008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EP2 - 60% Ponderación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31520" y="1463040"/>
            <a:ext cx="5120640" cy="2103120"/>
          </a:xfrm>
          <a:prstGeom prst="roundRect">
            <a:avLst/>
          </a:prstGeom>
          <a:solidFill>
            <a:srgbClr val="141418"/>
          </a:solidFill>
          <a:ln w="12700">
            <a:solidFill>
              <a:srgbClr val="272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60020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PROCEDIMIENTO SIN PARÁMETROS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14400" y="18288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sp_reajuste_masivo_sueldos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219456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 de forma masiva un reajuste inflacionario del 4.5% sobre la totalidad de operadores activos en una sola transacción DML segura.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14400" y="2971800"/>
            <a:ext cx="4754880" cy="411480"/>
          </a:xfrm>
          <a:prstGeom prst="roundRect">
            <a:avLst/>
          </a:prstGeom>
          <a:solidFill>
            <a:srgbClr val="000000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299923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 PKG_ESTILO_URBANO.sp_reajuste_masivo_sueldos;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217920" y="1463040"/>
            <a:ext cx="5120640" cy="2103120"/>
          </a:xfrm>
          <a:prstGeom prst="roundRect">
            <a:avLst/>
          </a:prstGeom>
          <a:solidFill>
            <a:srgbClr val="141418"/>
          </a:solidFill>
          <a:ln w="12700">
            <a:solidFill>
              <a:srgbClr val="2727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160020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PROCEDIMIENTO CON PARÁMETROS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0" y="18288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sp_actualizar_sueldo_empleado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0" y="219456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Actualiza de forma atómica el sueldo de un trabajador específico (p_id_usuario, p_nuevo_sueldo), validando que sea un operador activo.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00800" y="2971800"/>
            <a:ext cx="4754880" cy="411480"/>
          </a:xfrm>
          <a:prstGeom prst="roundRect">
            <a:avLst/>
          </a:prstGeom>
          <a:solidFill>
            <a:srgbClr val="000000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0" y="299923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 PKG_ESTILO_URBANO.sp_actualizar_sueldo_empleado(2, 750000);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731520" y="3840480"/>
            <a:ext cx="5120640" cy="2103120"/>
          </a:xfrm>
          <a:prstGeom prst="roundRect">
            <a:avLst/>
          </a:prstGeom>
          <a:solidFill>
            <a:srgbClr val="141418"/>
          </a:solidFill>
          <a:ln w="12700">
            <a:solidFill>
              <a:srgbClr val="2727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397764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FUNCIÓN CON PARÁMETROS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14400" y="420624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fn_calcular_bono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14400" y="457200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 determinísticamente el bono mensual por porcentaje de meta comercial lograda (0%, 3%, 7% o 12%). Retorna NUMBER.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14400" y="5349240"/>
            <a:ext cx="4754880" cy="411480"/>
          </a:xfrm>
          <a:prstGeom prst="roundRect">
            <a:avLst/>
          </a:prstGeom>
          <a:solidFill>
            <a:srgbClr val="000000"/>
          </a:solidFill>
          <a:ln/>
        </p:spPr>
      </p:sp>
      <p:sp>
        <p:nvSpPr>
          <p:cNvPr id="24" name="Text 22"/>
          <p:cNvSpPr/>
          <p:nvPr/>
        </p:nvSpPr>
        <p:spPr>
          <a:xfrm>
            <a:off x="1005840" y="537667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PKG_ESTILO_URBANO.fn_calcular_bono(2, 115) FROM DUAL;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217920" y="3840480"/>
            <a:ext cx="5120640" cy="2103120"/>
          </a:xfrm>
          <a:prstGeom prst="roundRect">
            <a:avLst/>
          </a:prstGeom>
          <a:solidFill>
            <a:srgbClr val="141418"/>
          </a:solidFill>
          <a:ln w="12700">
            <a:solidFill>
              <a:srgbClr val="2727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0" y="397764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FUNCIÓN SIN PARÁMETROS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400800" y="420624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fn_promedio_sueldo_trabajadores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00800" y="457200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Computa el sueldo promedio de la dotación activa de operadores de bodega y fulfillment. Usable dentro de cualquier consulta SQL.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400800" y="5349240"/>
            <a:ext cx="4754880" cy="411480"/>
          </a:xfrm>
          <a:prstGeom prst="roundRect">
            <a:avLst/>
          </a:prstGeom>
          <a:solidFill>
            <a:srgbClr val="000000"/>
          </a:solidFill>
          <a:ln/>
        </p:spPr>
      </p:sp>
      <p:sp>
        <p:nvSpPr>
          <p:cNvPr id="30" name="Text 28"/>
          <p:cNvSpPr/>
          <p:nvPr/>
        </p:nvSpPr>
        <p:spPr>
          <a:xfrm>
            <a:off x="6492240" y="537667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PKG_ESTILO_URBANO.fn_promedio_sueldo_trabajadores FROM DUAL;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B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MODULARIDAD Y ENCAPSULAMIENTO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Package PKG_ESTILO_URBANO: Constructores Públicos y Privados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Base de Datos (BDY1103) | Caso Estilo Urbano | Duoc UC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144000" y="64008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EP2 - 60% Ponderación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141418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7373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ESPECIFICACIÓN PÚBLICA (PACKAGE SPEC)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2011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Interfaz accesible por aplicaciones externas y usuarios: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005840" y="2377440"/>
            <a:ext cx="4572000" cy="3383280"/>
          </a:xfrm>
          <a:prstGeom prst="roundRect">
            <a:avLst/>
          </a:prstGeom>
          <a:solidFill>
            <a:srgbClr val="000000"/>
          </a:solidFill>
          <a:ln/>
        </p:spPr>
      </p:sp>
      <p:sp>
        <p:nvSpPr>
          <p:cNvPr id="11" name="Text 9"/>
          <p:cNvSpPr/>
          <p:nvPr/>
        </p:nvSpPr>
        <p:spPr>
          <a:xfrm>
            <a:off x="1143000" y="2468880"/>
            <a:ext cx="42976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OR REPLACE PACKAGE PKG_ESTILO_URBANO IS
</a:t>
            </a:r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 Constante pública
  c_version CONSTANT VARCHAR2(10);
</a:t>
            </a:r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 Métodos Públicos Expuestos
</a:t>
            </a:r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FUNCTION fn_calcular_bono(...) RETURN NUMBER;
</a:t>
            </a:r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FUNCTION fn_promedio_sueldo_trabajadores RETURN NUMBER;
</a:t>
            </a:r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FUNCTION fn_obtener_margen_financiero RETURN VARCHAR2;
</a:t>
            </a:r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PROCEDURE sp_actualizar_sueldo_empleado(...);
</a:t>
            </a:r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PROCEDURE sp_cambiar_estado_pedido(...);
</a:t>
            </a:r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PROCEDURE sp_reajuste_masivo_sueldos;
</a:t>
            </a:r>
            <a:pPr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PKG_ESTILO_URBANO;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217920" y="1463040"/>
            <a:ext cx="5120640" cy="4572000"/>
          </a:xfrm>
          <a:prstGeom prst="roundRect">
            <a:avLst/>
          </a:prstGeom>
          <a:solidFill>
            <a:srgbClr val="141418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17373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CUERPO PRIVADO (PACKAGE BODY)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92240" y="2011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Encapsulamiento estricto: lógica oculta al exterior: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492240" y="2377440"/>
            <a:ext cx="4572000" cy="3383280"/>
          </a:xfrm>
          <a:prstGeom prst="roundRect">
            <a:avLst/>
          </a:prstGeom>
          <a:solidFill>
            <a:srgbClr val="000000"/>
          </a:solidFill>
          <a:ln/>
        </p:spPr>
      </p:sp>
      <p:sp>
        <p:nvSpPr>
          <p:cNvPr id="16" name="Text 14"/>
          <p:cNvSpPr/>
          <p:nvPr/>
        </p:nvSpPr>
        <p:spPr>
          <a:xfrm>
            <a:off x="6629400" y="2468880"/>
            <a:ext cx="42976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OR REPLACE PACKAGE BODY ... IS
</a:t>
            </a:r>
            <a:pPr indent="0" marL="0">
              <a:buNone/>
            </a:pPr>
            <a:r>
              <a:rPr lang="en-US" sz="85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 CONSTRUCTOR / FUNCIÓN PRIVADA
</a:t>
            </a:r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FUNCTION fn_es_trabajador_valido(
    p_id NUMBER
  ) RETURN BOOLEAN IS
</a:t>
            </a:r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BEGIN
    -- Valida que sea rol = 2 y estado = "A"
    SELECT COUNT(*) INTO v_existe FROM ...;
    RETURN (v_existe &gt; 0);
  END fn_es_trabajador_valido;
</a:t>
            </a:r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 Implementación de métodos públicos...
</a:t>
            </a:r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 Invocan internamente al constructor privado.
</a:t>
            </a:r>
            <a:pPr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PKG_ESTILO_URBANO;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B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DISPARADORES PL/SQL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Triggers a Nivel de Fila y Sentencia: Auditoría y Reglas de Negocio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Base de Datos (BDY1103) | Caso Estilo Urbano | Duoc UC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144000" y="64008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EP2 - 60% Ponderación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31520" y="1463040"/>
            <a:ext cx="3291840" cy="4572000"/>
          </a:xfrm>
          <a:prstGeom prst="roundRect">
            <a:avLst/>
          </a:prstGeom>
          <a:solidFill>
            <a:srgbClr val="141418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69164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FILA: BEFORE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14400" y="196596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trg_valida_sueldo_empleado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2423160"/>
            <a:ext cx="292608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Momento: </a:t>
            </a:r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INSERT OR UPDATE
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Tabla: </a:t>
            </a:r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USUARIO
</a:t>
            </a:r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Propósito de Negocio:
</a:t>
            </a:r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Valida que el sueldo no sea inferior al mínimo legal ($500.000).
</a:t>
            </a:r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Mecanismo:
</a:t>
            </a:r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Frena la transacción antes de tocar el bloque de datos arrojando:
</a:t>
            </a:r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RAISE_APPLICATION_ERROR(-20001)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89120" y="1463040"/>
            <a:ext cx="3291840" cy="4572000"/>
          </a:xfrm>
          <a:prstGeom prst="roundRect">
            <a:avLst/>
          </a:prstGeom>
          <a:solidFill>
            <a:srgbClr val="141418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169164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FILA: AFTER (:OLD / :NEW)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96596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trg_audit_sueldo_cambios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0" y="2423160"/>
            <a:ext cx="292608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Momento: </a:t>
            </a:r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UPDATE OF sueldo_base
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Tabla: </a:t>
            </a:r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USUARIO
</a:t>
            </a:r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Propósito de Negocio:
</a:t>
            </a:r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Auditoría transaccional estricta.
</a:t>
            </a:r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Mecanismo:
</a:t>
            </a:r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Captura con :OLD el sueldo previo y con :NEW el nuevo monto.
</a:t>
            </a:r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Destino:
</a:t>
            </a:r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Inserta en AUDITORIA_SUELDO_EMPLEADO con fecha, usuario y variación.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046720" y="1463040"/>
            <a:ext cx="3291840" cy="4572000"/>
          </a:xfrm>
          <a:prstGeom prst="roundRect">
            <a:avLst/>
          </a:prstGeom>
          <a:solidFill>
            <a:srgbClr val="141418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0" y="169164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SENTENCIA: AFTER (SOLVENCIA)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229600" y="196596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trg_valida_solvencia_sueldos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229600" y="2423160"/>
            <a:ext cx="292608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Momento: </a:t>
            </a:r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UPDATE (Sin FOR EACH ROW)
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Tabla: </a:t>
            </a:r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USUARIO
</a:t>
            </a:r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Regla Financiera:
</a:t>
            </a:r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Las ganancias/ventas no pueden ser menores a los sueldos.
</a:t>
            </a:r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Ventaja Técnica Clave:
</a:t>
            </a:r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Evita ORA-04091 (Mutating Table) al evaluar agregaciones totales (SUM) al finalizar la sentencia.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B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DEMOSTRACIÓN Y CONCLUSIÓN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de Prueba en Oracle SQL Developer y Resultados Obtenidos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de Base de Datos (BDY1103) | Caso Estilo Urbano | Duoc UC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144000" y="64008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EP2 - 60% Ponderación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10607040" cy="2926080"/>
        </p:xfrm>
        <a:graphic>
          <a:graphicData uri="http://schemas.openxmlformats.org/drawingml/2006/table">
            <a:tbl>
              <a:tblPr/>
              <a:tblGrid>
                <a:gridCol w="2011680"/>
                <a:gridCol w="3474720"/>
                <a:gridCol w="3657600"/>
                <a:gridCol w="1463040"/>
              </a:tblGrid>
              <a:tr h="487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Caso de Prueba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Comando Ejecutado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Efecto del Trigger / Package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Resultado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8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1. Auditoría Sueldo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UPDATE USUARIO SET sueldo_base = 750000...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Trigger AFTER registra :OLD=$650k, :NEW=$750k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OK: Auditado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8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2. Sueldo Mínimo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UPDATE USUARIO SET sueldo_base = 350000...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Trigger BEFORE bloquea sueldo &lt; $500.000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ORA-20001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8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3. Solvencia Financiera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UPDATE USUARIO SET sueldo_base = 15000000...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Trigger Sentencia frena nómina &gt; ventas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ORA-20003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8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4. Tracking Pedido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UPDATE PEDIDO SET id_estado = 4...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Trigger AFTER puebla HISTORIAL_TRACKING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OK: Tracking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8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5. Reajuste Masivo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EXEC PKG_ESTILO_URBANO.sp_reajuste_masivo;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Package aplica 4.5% masivo a operadores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OK: Nómina</a:t>
                      </a:r>
                      <a:endParaRPr lang="en-US" sz="9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727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31520" y="4663440"/>
            <a:ext cx="10607040" cy="1463040"/>
          </a:xfrm>
          <a:prstGeom prst="roundRect">
            <a:avLst/>
          </a:prstGeom>
          <a:solidFill>
            <a:srgbClr val="141418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05840" y="48006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CONCLUSIÓN DEL PROYECTO: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005840" y="507492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implementación de Packages y Triggers a nivel de fila y sentencia en Oracle Database 19c/21c permite a "Estilo Urbano" alcanzar un nivel bancario de integridad: ningún sueldo puede alterarse sin bitácora, la solvencia está blindada contra quiebres y cada pedido cuenta con trazabilidad en tiempo real.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2026-10-22T21:49:12Z</dcterms:created>
  <dcterms:modified xsi:type="dcterms:W3CDTF">2026-10-22T21:49:12Z</dcterms:modified>
</cp:coreProperties>
</file>